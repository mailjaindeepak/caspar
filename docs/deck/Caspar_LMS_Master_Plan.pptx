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proof: the prototype exists, is used by the team, and refreshes itself. Lead counts from the 18 Aug refresh — check the live app before the meeting in case the Monday run has moved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asks. Phase 1 is deliberately small and visible: each item makes the demo reflect Taran's note within a month.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Caspar Intelligence &amp; Lead System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plan of work — Karnal prototype to multi-city intelligence platform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rgbClr val="2E5FD0"/>
          </a:solidFill>
          <a:ln>
            <a:solidFill>
              <a:srgbClr val="2E5F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32735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7280" y="2971800"/>
            <a:ext cx="868680" cy="0"/>
          </a:xfrm>
          <a:prstGeom prst="line">
            <a:avLst/>
          </a:prstGeom>
          <a:noFill/>
          <a:ln w="15875">
            <a:solidFill>
              <a:srgbClr val="3A4C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65960" y="2743200"/>
            <a:ext cx="457200" cy="457200"/>
          </a:xfrm>
          <a:prstGeom prst="ellipse">
            <a:avLst/>
          </a:prstGeom>
          <a:solidFill>
            <a:srgbClr val="2E5FD0"/>
          </a:solidFill>
          <a:ln>
            <a:solidFill>
              <a:srgbClr val="2E5F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32735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parcels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2971800"/>
            <a:ext cx="868680" cy="0"/>
          </a:xfrm>
          <a:prstGeom prst="line">
            <a:avLst/>
          </a:prstGeom>
          <a:noFill/>
          <a:ln w="15875">
            <a:solidFill>
              <a:srgbClr val="3A4C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743200"/>
            <a:ext cx="457200" cy="457200"/>
          </a:xfrm>
          <a:prstGeom prst="ellipse">
            <a:avLst/>
          </a:prstGeom>
          <a:solidFill>
            <a:srgbClr val="2E5FD0"/>
          </a:solidFill>
          <a:ln>
            <a:solidFill>
              <a:srgbClr val="2E5F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71800" y="32735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49040" y="2971800"/>
            <a:ext cx="868680" cy="0"/>
          </a:xfrm>
          <a:prstGeom prst="line">
            <a:avLst/>
          </a:prstGeom>
          <a:noFill/>
          <a:ln w="15875">
            <a:solidFill>
              <a:srgbClr val="3A4C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743200"/>
            <a:ext cx="457200" cy="457200"/>
          </a:xfrm>
          <a:prstGeom prst="ellipse">
            <a:avLst/>
          </a:prstGeom>
          <a:solidFill>
            <a:srgbClr val="2E5FD0"/>
          </a:solidFill>
          <a:ln>
            <a:solidFill>
              <a:srgbClr val="2E5F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97680" y="32735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74920" y="2971800"/>
            <a:ext cx="868680" cy="0"/>
          </a:xfrm>
          <a:prstGeom prst="line">
            <a:avLst/>
          </a:prstGeom>
          <a:noFill/>
          <a:ln w="15875">
            <a:solidFill>
              <a:srgbClr val="3A4C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2743200"/>
            <a:ext cx="457200" cy="457200"/>
          </a:xfrm>
          <a:prstGeom prst="ellipse">
            <a:avLst/>
          </a:prstGeom>
          <a:solidFill>
            <a:srgbClr val="2E5FD0"/>
          </a:solidFill>
          <a:ln>
            <a:solidFill>
              <a:srgbClr val="2E5F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23560" y="32735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2971800"/>
            <a:ext cx="868680" cy="0"/>
          </a:xfrm>
          <a:prstGeom prst="line">
            <a:avLst/>
          </a:prstGeom>
          <a:noFill/>
          <a:ln w="15875">
            <a:solidFill>
              <a:srgbClr val="3A4C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2743200"/>
            <a:ext cx="457200" cy="457200"/>
          </a:xfrm>
          <a:prstGeom prst="ellipse">
            <a:avLst/>
          </a:prstGeom>
          <a:solidFill>
            <a:srgbClr val="2E5FD0"/>
          </a:solidFill>
          <a:ln>
            <a:solidFill>
              <a:srgbClr val="2E5F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49440" y="32735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Varun Khanna &amp; Taran Chhabra  ·  Caspar Wealth  ·  August 2026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Deepak Jain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are: the Karnal prototype is live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running since mid-August. Everything below refreshes automatically every Monday.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5F7FA"/>
          </a:solidFill>
          <a:ln w="9525">
            <a:solidFill>
              <a:srgbClr val="DDE3ED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441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5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9385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under management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12801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5F7FA"/>
          </a:solidFill>
          <a:ln w="9525">
            <a:solidFill>
              <a:srgbClr val="DDE3ED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97480" y="13441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5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697480" y="19385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parcels, licensed but unlaunched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5F7FA"/>
          </a:solidFill>
          <a:ln w="9525">
            <a:solidFill>
              <a:srgbClr val="DDE3ED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3441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5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800600" y="19385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CLUs with site status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12801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5F7FA"/>
          </a:solidFill>
          <a:ln w="9525">
            <a:solidFill>
              <a:srgbClr val="DDE3ED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3441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5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903720" y="19385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applications in process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5F7FA"/>
          </a:solidFill>
          <a:ln w="9525">
            <a:solidFill>
              <a:srgbClr val="DDE3ED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" y="2743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the prototype today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8368" y="3063240"/>
            <a:ext cx="4983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with admin/member roles, lead lanes with counts, statuses, notes and full audit trail</a:t>
            </a:r>
            <a:endParaRPr lang="en-US" sz="10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lead lanes: land parcels · licence applications · hospitality CLUs · developers (14 scored)</a:t>
            </a:r>
            <a:endParaRPr lang="en-US" sz="10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map with government parcel polygons; min-acreage and premiumness filters</a:t>
            </a:r>
            <a:endParaRPr lang="en-US" sz="10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auto-refresh: DTCP licences + pending register, CLU permissions, HARERA, GIS</a:t>
            </a:r>
            <a:endParaRPr lang="en-US" sz="10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Researched contacts with sources on 10 hospitality leads; dropped leads carry evidence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265176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5F7FA"/>
          </a:solidFill>
          <a:ln w="9525">
            <a:solidFill>
              <a:srgbClr val="DDE3ED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7220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city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72200" y="30632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Karnal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city built end-to-end before replicating — the approach Taran's note sets out (§22).</a:t>
            </a:r>
            <a:endParaRPr lang="en-US" sz="16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600" dirty="0"/>
          </a:p>
          <a:p>
            <a:pPr indent="0" marL="0">
              <a:buNone/>
            </a:pPr>
            <a:r>
              <a:rPr lang="en-US" sz="950" dirty="0">
                <a:solidFill>
                  <a:srgbClr val="24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web-production-350d.up.railway.app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as of 18 Aug 2026 weekly refresh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engine: six steps from raw records to a mandate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collects data, then decides something. Status shows what is live in Karnal today.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207008" cy="2514600"/>
          </a:xfrm>
          <a:prstGeom prst="roundRect">
            <a:avLst>
              <a:gd name="adj" fmla="val 6061"/>
            </a:avLst>
          </a:prstGeom>
          <a:solidFill>
            <a:srgbClr val="F5F7FA"/>
          </a:solidFill>
          <a:ln w="9525">
            <a:solidFill>
              <a:srgbClr val="DDE3ED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453896"/>
            <a:ext cx="365760" cy="365760"/>
          </a:xfrm>
          <a:prstGeom prst="ellipse">
            <a:avLst/>
          </a:prstGeom>
          <a:solidFill>
            <a:srgbClr val="1E2A44"/>
          </a:solidFill>
          <a:ln>
            <a:solidFill>
              <a:srgbClr val="1E2A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92808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leads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350008"/>
            <a:ext cx="10241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registers scanned weekly for new parcels, applications and CLUs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30352" y="3456432"/>
            <a:ext cx="1060704" cy="237744"/>
          </a:xfrm>
          <a:prstGeom prst="roundRect">
            <a:avLst>
              <a:gd name="adj" fmla="val 50000"/>
            </a:avLst>
          </a:prstGeom>
          <a:solidFill>
            <a:srgbClr val="E8F6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0D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691640" y="2423160"/>
            <a:ext cx="142646" cy="201168"/>
          </a:xfrm>
          <a:prstGeom prst="rightArrow">
            <a:avLst/>
          </a:prstGeom>
          <a:solidFill>
            <a:srgbClr val="C8D9FB"/>
          </a:solidFill>
          <a:ln w="12700">
            <a:solidFill>
              <a:srgbClr val="C8D9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61718" y="1325880"/>
            <a:ext cx="1207008" cy="2514600"/>
          </a:xfrm>
          <a:prstGeom prst="roundRect">
            <a:avLst>
              <a:gd name="adj" fmla="val 6061"/>
            </a:avLst>
          </a:prstGeom>
          <a:solidFill>
            <a:srgbClr val="F5F7FA"/>
          </a:solidFill>
          <a:ln w="9525">
            <a:solidFill>
              <a:srgbClr val="DDE3ED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71446" y="1453896"/>
            <a:ext cx="365760" cy="365760"/>
          </a:xfrm>
          <a:prstGeom prst="ellipse">
            <a:avLst/>
          </a:prstGeom>
          <a:solidFill>
            <a:srgbClr val="1E2A44"/>
          </a:solidFill>
          <a:ln>
            <a:solidFill>
              <a:srgbClr val="1E2A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53158" y="1892808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land parcels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953158" y="2350008"/>
            <a:ext cx="10241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premiumness, surroundings → potential Caspar solution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934870" y="3456432"/>
            <a:ext cx="1060704" cy="237744"/>
          </a:xfrm>
          <a:prstGeom prst="roundRect">
            <a:avLst>
              <a:gd name="adj" fmla="val 50000"/>
            </a:avLst>
          </a:prstGeom>
          <a:solidFill>
            <a:srgbClr val="E8F6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0D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· EXPANDING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096158" y="2423160"/>
            <a:ext cx="142646" cy="201168"/>
          </a:xfrm>
          <a:prstGeom prst="rightArrow">
            <a:avLst/>
          </a:prstGeom>
          <a:solidFill>
            <a:srgbClr val="C8D9FB"/>
          </a:solidFill>
          <a:ln w="12700">
            <a:solidFill>
              <a:srgbClr val="C8D9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6237" y="1325880"/>
            <a:ext cx="1207008" cy="2514600"/>
          </a:xfrm>
          <a:prstGeom prst="roundRect">
            <a:avLst>
              <a:gd name="adj" fmla="val 6061"/>
            </a:avLst>
          </a:prstGeom>
          <a:solidFill>
            <a:srgbClr val="F5F7FA"/>
          </a:solidFill>
          <a:ln w="9525">
            <a:solidFill>
              <a:srgbClr val="DDE3ED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75965" y="1453896"/>
            <a:ext cx="365760" cy="365760"/>
          </a:xfrm>
          <a:prstGeom prst="ellipse">
            <a:avLst/>
          </a:prstGeom>
          <a:solidFill>
            <a:srgbClr val="1E2A44"/>
          </a:solidFill>
          <a:ln>
            <a:solidFill>
              <a:srgbClr val="1E2A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57677" y="1892808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developers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57677" y="2350008"/>
            <a:ext cx="10241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record, native/non-native, verified decision-makers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39389" y="3456432"/>
            <a:ext cx="1060704" cy="237744"/>
          </a:xfrm>
          <a:prstGeom prst="roundRect">
            <a:avLst>
              <a:gd name="adj" fmla="val 50000"/>
            </a:avLst>
          </a:prstGeom>
          <a:solidFill>
            <a:srgbClr val="FDF3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8A5A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00677" y="2423160"/>
            <a:ext cx="142646" cy="201168"/>
          </a:xfrm>
          <a:prstGeom prst="rightArrow">
            <a:avLst/>
          </a:prstGeom>
          <a:solidFill>
            <a:srgbClr val="C8D9FB"/>
          </a:solidFill>
          <a:ln w="12700">
            <a:solidFill>
              <a:srgbClr val="C8D9F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70755" y="1325880"/>
            <a:ext cx="1207008" cy="2514600"/>
          </a:xfrm>
          <a:prstGeom prst="roundRect">
            <a:avLst>
              <a:gd name="adj" fmla="val 6061"/>
            </a:avLst>
          </a:prstGeom>
          <a:solidFill>
            <a:srgbClr val="F5F7FA"/>
          </a:solidFill>
          <a:ln w="9525">
            <a:solidFill>
              <a:srgbClr val="DDE3ED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80483" y="1453896"/>
            <a:ext cx="365760" cy="365760"/>
          </a:xfrm>
          <a:prstGeom prst="ellipse">
            <a:avLst/>
          </a:prstGeom>
          <a:solidFill>
            <a:srgbClr val="1E2A44"/>
          </a:solidFill>
          <a:ln>
            <a:solidFill>
              <a:srgbClr val="1E2A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62195" y="1892808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market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62195" y="2350008"/>
            <a:ext cx="10241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intelligence bank, luxury depth, competitors, BR benchmarks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43907" y="3456432"/>
            <a:ext cx="1060704" cy="237744"/>
          </a:xfrm>
          <a:prstGeom prst="roundRect">
            <a:avLst>
              <a:gd name="adj" fmla="val 50000"/>
            </a:avLst>
          </a:prstGeom>
          <a:solidFill>
            <a:srgbClr val="E9F0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24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905195" y="2423160"/>
            <a:ext cx="142646" cy="201168"/>
          </a:xfrm>
          <a:prstGeom prst="rightArrow">
            <a:avLst/>
          </a:prstGeom>
          <a:solidFill>
            <a:srgbClr val="C8D9FB"/>
          </a:solidFill>
          <a:ln w="12700">
            <a:solidFill>
              <a:srgbClr val="C8D9F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75274" y="1325880"/>
            <a:ext cx="1207008" cy="2514600"/>
          </a:xfrm>
          <a:prstGeom prst="roundRect">
            <a:avLst>
              <a:gd name="adj" fmla="val 6061"/>
            </a:avLst>
          </a:prstGeom>
          <a:solidFill>
            <a:srgbClr val="F5F7FA"/>
          </a:solidFill>
          <a:ln w="9525">
            <a:solidFill>
              <a:srgbClr val="DDE3ED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85002" y="1453896"/>
            <a:ext cx="365760" cy="365760"/>
          </a:xfrm>
          <a:prstGeom prst="ellipse">
            <a:avLst/>
          </a:prstGeom>
          <a:solidFill>
            <a:srgbClr val="1E2A44"/>
          </a:solidFill>
          <a:ln>
            <a:solidFill>
              <a:srgbClr val="1E2A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66714" y="1892808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&amp; feasibility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166714" y="2350008"/>
            <a:ext cx="10241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Approval-gated intros; feasibility snapshot → full study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48426" y="3456432"/>
            <a:ext cx="1060704" cy="237744"/>
          </a:xfrm>
          <a:prstGeom prst="roundRect">
            <a:avLst>
              <a:gd name="adj" fmla="val 50000"/>
            </a:avLst>
          </a:prstGeom>
          <a:solidFill>
            <a:srgbClr val="E9F0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24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309714" y="2423160"/>
            <a:ext cx="142646" cy="201168"/>
          </a:xfrm>
          <a:prstGeom prst="rightArrow">
            <a:avLst/>
          </a:prstGeom>
          <a:solidFill>
            <a:srgbClr val="C8D9FB"/>
          </a:solidFill>
          <a:ln w="12700">
            <a:solidFill>
              <a:srgbClr val="C8D9F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79792" y="1325880"/>
            <a:ext cx="1207008" cy="2514600"/>
          </a:xfrm>
          <a:prstGeom prst="roundRect">
            <a:avLst>
              <a:gd name="adj" fmla="val 6061"/>
            </a:avLst>
          </a:prstGeom>
          <a:solidFill>
            <a:srgbClr val="F5F7FA"/>
          </a:solidFill>
          <a:ln w="9525">
            <a:solidFill>
              <a:srgbClr val="DDE3ED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589520" y="1453896"/>
            <a:ext cx="365760" cy="365760"/>
          </a:xfrm>
          <a:prstGeom prst="ellipse">
            <a:avLst/>
          </a:prstGeom>
          <a:solidFill>
            <a:srgbClr val="1E2A44"/>
          </a:solidFill>
          <a:ln>
            <a:solidFill>
              <a:srgbClr val="1E2A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571232" y="1892808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pipeline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571232" y="2350008"/>
            <a:ext cx="10241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Lead-to-mandate workflow, team assignment, management dashboard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552944" y="3456432"/>
            <a:ext cx="1060704" cy="237744"/>
          </a:xfrm>
          <a:prstGeom prst="roundRect">
            <a:avLst>
              <a:gd name="adj" fmla="val 50000"/>
            </a:avLst>
          </a:prstGeom>
          <a:solidFill>
            <a:srgbClr val="E8F6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0D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· EXPANDING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57200" y="4114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E8F6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0D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444752" y="41148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in Karnal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60320" y="4114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DF3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8A5A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547872" y="41148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now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63440" y="4114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E9F0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24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650992" y="41148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8 weeks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766560" y="4114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EDF0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754112" y="41148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phase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follows Taran's note §7 (opportunity architecture) and §22 (one city, then replicate)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420624" cy="420624"/>
          </a:xfrm>
          <a:prstGeom prst="ellipse">
            <a:avLst/>
          </a:prstGeom>
          <a:solidFill>
            <a:srgbClr val="1E2A44"/>
          </a:solidFill>
          <a:ln>
            <a:solidFill>
              <a:srgbClr val="1E2A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05840" y="29260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leads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0" y="429768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E8F6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0D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05840" y="822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scan of government registers; every lead enters the system with its source document attached.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F5F7FA"/>
          </a:solidFill>
          <a:ln w="9525">
            <a:solidFill>
              <a:srgbClr val="DDE3ED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3440" y="128016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F5F7FA"/>
          </a:solidFill>
          <a:ln w="9525">
            <a:solidFill>
              <a:srgbClr val="DDE3ED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1389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collect  ·  weekly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64608" y="1389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decides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173736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registers (DTCP, HARERA)</a:t>
            </a:r>
            <a:endParaRPr lang="en-US" sz="11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CLU permissions for hospitality use</a:t>
            </a:r>
            <a:endParaRPr lang="en-US" sz="11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licences granted but not yet RERA-registered (unlaunched land)</a:t>
            </a:r>
            <a:endParaRPr lang="en-US" sz="11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applications in process — the earliest signal, before grant</a:t>
            </a:r>
            <a:endParaRPr lang="en-US" sz="11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/ lapsed applications — a re-approach pool</a:t>
            </a:r>
            <a:endParaRPr lang="en-US" sz="115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projects in the city / micro-market</a:t>
            </a:r>
            <a:endParaRPr lang="en-US" sz="11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date, area, segment, launch price, unit size, stage, units sold, current price (RERA + web)</a:t>
            </a:r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8A5A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building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64608" y="173736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lane a lead belongs to: land parcel · application · hospitality · developer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 parcel is genuinely unlaunched — deterministic licence↔RERA citation match drops false positives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new this week vs. already known — only genuinely new leads are added, nothing is overwritten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team members can see it — cities are released to the team one at a time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Launched-project records feed the market layer in Step 4</a:t>
            </a:r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4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next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Taran's note: §7 opportunity architecture · §22 prototype city   ·   Refresh: weekly (Mondays)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420624" cy="420624"/>
          </a:xfrm>
          <a:prstGeom prst="ellipse">
            <a:avLst/>
          </a:prstGeom>
          <a:solidFill>
            <a:srgbClr val="1E2A44"/>
          </a:solidFill>
          <a:ln>
            <a:solidFill>
              <a:srgbClr val="1E2A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05840" y="29260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land parcels for branded collaboration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0" y="429768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E8F6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0D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· EXPANDING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05840" y="822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licence number into a judged opportunity: where it is, how premium, and what Caspar could propose there.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F5F7FA"/>
          </a:solidFill>
          <a:ln w="9525">
            <a:solidFill>
              <a:srgbClr val="DDE3ED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3440" y="128016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F5F7FA"/>
          </a:solidFill>
          <a:ln w="9525">
            <a:solidFill>
              <a:srgbClr val="DDE3ED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1389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collect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64608" y="1389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decides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173736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 details  ·  government sources, weekly</a:t>
            </a:r>
            <a:endParaRPr lang="en-US" sz="11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coordinates, parcel area, land use, developer, licence / CLU number, GIS polygon</a:t>
            </a:r>
            <a:endParaRPr lang="en-US" sz="11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/ FSI, zoning, access &amp; frontage where available</a:t>
            </a:r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4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next</a:t>
            </a:r>
            <a:endParaRPr lang="en-US" sz="115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premiumness  ·  internet, monthly</a:t>
            </a:r>
            <a:endParaRPr lang="en-US" sz="11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rates; surrounding premium / luxury projects; nearby hotels; infrastructure and connectivity</a:t>
            </a:r>
            <a:endParaRPr lang="en-US" sz="11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use and development status (vacant / under construction / operating)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64608" y="173736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Premiumness of the locality and native / non-native developer flag (live)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&amp; BR potential — score 1 to 100</a:t>
            </a:r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8A5A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building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of potential hospitality partner</a:t>
            </a:r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8A5A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building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Caspar Solution: Hotel · Branded Residences · Hotel + BR · Serviced Apartments · Villas / Resort · Mixed-use · Further study required</a:t>
            </a:r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8A5A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building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carries source and date verified (§15)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Taran's note: §10 parcel intelligence · §7 · §15 provenance   ·   Refresh: weekly (parcels) / monthly (surroundings)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420624" cy="420624"/>
          </a:xfrm>
          <a:prstGeom prst="ellipse">
            <a:avLst/>
          </a:prstGeom>
          <a:solidFill>
            <a:srgbClr val="1E2A44"/>
          </a:solidFill>
          <a:ln>
            <a:solidFill>
              <a:srgbClr val="1E2A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05840" y="29260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developers and verify decision-makers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0" y="429768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FDF3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8A5A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05840" y="822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behind the parcel, how capable they are, and whether we can actually reach the person who decides.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F5F7FA"/>
          </a:solidFill>
          <a:ln w="9525">
            <a:solidFill>
              <a:srgbClr val="DDE3ED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3440" y="128016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F5F7FA"/>
          </a:solidFill>
          <a:ln w="9525">
            <a:solidFill>
              <a:srgbClr val="DDE3ED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1389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collect  ·  weekly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64608" y="1389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decides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173736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record within the state  ·  government sources</a:t>
            </a:r>
            <a:endParaRPr lang="en-US" sz="11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projects: segment, area, launch rate &amp; date, current rate, stage (launched → delivered)</a:t>
            </a:r>
            <a:endParaRPr lang="en-US" sz="115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 ·  internet</a:t>
            </a:r>
            <a:endParaRPr lang="en-US" sz="11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background, geographic presence, hospitality exposure, branded-residence experience, news</a:t>
            </a:r>
            <a:endParaRPr lang="en-US" sz="115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Decision-makers  ·  person level</a:t>
            </a:r>
            <a:endParaRPr lang="en-US" sz="11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 / Chairman / MD / CEO / Directors / Strategy-BD head / Hospitality head</a:t>
            </a:r>
            <a:endParaRPr lang="en-US" sz="11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Mobile, email, LinkedIn, source, verification status and last-verified date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64608" y="173736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vs. non-native; Local / Regional / National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and BR exposure (projects, partner brands, cities)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potential — score 1 to 100; new and non-native developers rank higher because a brand tie-up gives them the credibility they lack locally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set for the developer's micro-market and city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confidence: Verified · Probable · Unverified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Outreach-ready flag: scored, decision-maker verified, reason for approach identified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Taran's note: §9 developer &amp; decision-maker intelligence · §7 tags and opportunity score   ·   Refresh: weekly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420624" cy="420624"/>
          </a:xfrm>
          <a:prstGeom prst="ellipse">
            <a:avLst/>
          </a:prstGeom>
          <a:solidFill>
            <a:srgbClr val="1E2A44"/>
          </a:solidFill>
          <a:ln>
            <a:solidFill>
              <a:srgbClr val="1E2A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05840" y="29260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city and micro-market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0" y="429768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E9F0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24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05840" y="822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intelligence bank per city — built once, used for both business development and every later feasibility mandate.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F5F7FA"/>
          </a:solidFill>
          <a:ln w="9525">
            <a:solidFill>
              <a:srgbClr val="DDE3ED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3440" y="128016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F5F7FA"/>
          </a:solidFill>
          <a:ln w="9525">
            <a:solidFill>
              <a:srgbClr val="DDE3ED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1389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collect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64608" y="1389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decides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173736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intelligence bank  ·  per city, reusable</a:t>
            </a:r>
            <a:endParaRPr lang="en-US" sz="11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&amp; demographics, industry / employment drivers, infrastructure &amp; connectivity, residential corridors, commercial hubs, hospitality supply, social infrastructure, demand generators, key micro-markets</a:t>
            </a:r>
            <a:endParaRPr lang="en-US" sz="115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/ luxury residential research</a:t>
            </a:r>
            <a:endParaRPr lang="en-US" sz="11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Launches, units, sizes, ticket sizes, units sold, unsold inventory, current price, price CAGR, upcoming projects</a:t>
            </a:r>
            <a:endParaRPr lang="en-US" sz="115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permanent libraries</a:t>
            </a:r>
            <a:endParaRPr lang="en-US" sz="11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project database (developer, project, acreage, units, pricing, absorption, status, source)</a:t>
            </a:r>
            <a:endParaRPr lang="en-US" sz="11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branded-residences benchmark library — seeded from Caspar's own studies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64608" y="173736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/ Luxury / Ultra-luxury thresholds set per city and micro-market — editable, never one India-wide number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market depth in the micro-market and city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supply gap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Branded-residences competition and indicative branded premium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ranking within the city — which parcels and developers deserve an approach first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Taran's note: §8 intelligence bank · §11 market fields · §12 competitor DB · §13 BR library   ·   Refresh: monthly / per mandate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420624" cy="420624"/>
          </a:xfrm>
          <a:prstGeom prst="ellipse">
            <a:avLst/>
          </a:prstGeom>
          <a:solidFill>
            <a:srgbClr val="1E2A44"/>
          </a:solidFill>
          <a:ln>
            <a:solidFill>
              <a:srgbClr val="1E2A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05840" y="29260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and feasibility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0" y="429768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E9F0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24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05840" y="822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approach starts from a reason, goes out only after approval, and is backed by a preliminary assessment.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F5F7FA"/>
          </a:solidFill>
          <a:ln w="9525">
            <a:solidFill>
              <a:srgbClr val="DDE3ED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3440" y="128016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F5F7FA"/>
          </a:solidFill>
          <a:ln w="9525">
            <a:solidFill>
              <a:srgbClr val="DDE3ED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1389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Intelligence-led outreach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64608" y="1389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Feasibility, in two stages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173736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for approach, identified first</a:t>
            </a:r>
            <a:endParaRPr lang="en-US" sz="11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Land-led · existing project suitable for branding · non-native market entry · hospitality · branded residences · luxury-product enhancement · relationship / referral</a:t>
            </a:r>
            <a:endParaRPr lang="en-US" sz="115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→ prioritise → verify decision-maker → personalised intro drafted by the system → Taran / VK approval → send → track → follow-up</a:t>
            </a:r>
            <a:endParaRPr lang="en-US" sz="11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goes out without approval; every touch is logged against the opportunity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64608" y="173736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snapshot  ·  per shortlisted opportunity</a:t>
            </a:r>
            <a:endParaRPr lang="en-US" sz="11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+ parcel + market positioning + luxury depth + hospitality supply gap + BR competition + indicative format + potential brand category + opportunity score + key risks + recommended next action</a:t>
            </a:r>
            <a:endParaRPr lang="en-US" sz="11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readiness % and information-gap tracker; every data point tagged published / developer data / primary research / Caspar estimate</a:t>
            </a:r>
            <a:endParaRPr lang="en-US" sz="115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study</a:t>
            </a:r>
            <a:endParaRPr lang="en-US" sz="11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model, product mix &amp; pricing (conservative / realistic / optimistic), cash flows, NPV / IRR, residual land value — schema provisioned now, built later</a:t>
            </a:r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later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Taran's note: §14 feasibility snapshot · §15 readiness &amp; provenance · §16–§17 engines (later) · §18 intelligence-led outreach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420624" cy="420624"/>
          </a:xfrm>
          <a:prstGeom prst="ellipse">
            <a:avLst/>
          </a:prstGeom>
          <a:solidFill>
            <a:srgbClr val="1E2A44"/>
          </a:solidFill>
          <a:ln>
            <a:solidFill>
              <a:srgbClr val="1E2A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05840" y="29260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pipeline: LMS and management 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0" y="429768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E8F6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0D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· EXPANDING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05840" y="822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the team already works in, extended to carry each opportunity from first sighting to mandate.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F5F7FA"/>
          </a:solidFill>
          <a:ln w="9525">
            <a:solidFill>
              <a:srgbClr val="DDE3ED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3440" y="128016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F5F7FA"/>
          </a:solidFill>
          <a:ln w="9525">
            <a:solidFill>
              <a:srgbClr val="DDE3ED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1389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64608" y="1389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173736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lanes with counts; per-lane tables with filters, satellite map, parcel detail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Statuses: new → researching → contacted → meeting → handed off → deal / dropped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audit trail, dropped-lead evidence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member roles; city-by-city release to the team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sync adds new leads without touching team work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64608" y="173736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lifecycle: Identified → Researching → Qualified → Contact verified → Intro sent → Follow-up → Response → Meeting → Site visit → Opportunity → Proposal → Advisory agreement → Mandate → Brand shortlisting → Brands offered → Brand site visit → LOI / term sheet → Definitive agreement → Closed / On hold / Lost</a:t>
            </a:r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8A5A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building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fields from the manual tracker: brands offered / selected, commercial structure, Caspar fee, payments, site visits, IM, feasibility / DBR, proposal, remarks</a:t>
            </a:r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8A5A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building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score with manual override; lead assignment to team</a:t>
            </a:r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8A5A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building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dashboard — funnel counts, conversion ratios, and an Action Required / Follow-ups Due view</a:t>
            </a:r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4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next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Taran's note: §7 opportunity score · §19 lead-to-mandate workflow · §20 management dashboard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Taran's architecture note, mapped to the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section of §7–§22 has a home in the six steps and a phase.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8229600" cy="914400"/>
        </p:xfrm>
        <a:graphic>
          <a:graphicData uri="http://schemas.openxmlformats.org/drawingml/2006/table">
            <a:tbl>
              <a:tblPr/>
              <a:tblGrid>
                <a:gridCol w="347472"/>
                <a:gridCol w="4617720"/>
                <a:gridCol w="1325880"/>
                <a:gridCol w="1938528"/>
              </a:tblGrid>
              <a:tr h="2029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Lands 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 model, developer tags, Opportunity Score with manual override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Steps 3 &amp; 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&amp; micro-market intelligence bank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profiles + person-level verified decision-makers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(sprint)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Parcel intelligence + Potential Caspar Solution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/ luxury market fields; city-specific thresholds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 project database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branded-residences benchmark library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 · seed: Autograph study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Preliminary feasibility snapshot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Feasibility readiness % and provenance on every data point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Steps 2–5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fields; Phase 2 roll-up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Demand, product-mix &amp; pricing engine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feasibility (cash flows, NPV / IRR)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 — schema now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Intelligence-led, approval-gated outreach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Lead-to-mandate workflow with deal fields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 dashboard + Action Required view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 re-engineering &amp; positioning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track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city as complete prototype, then replicate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Karnal → city 2 → 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phases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text of the note kept in the project repository (docs/taran_architecture_note.md)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and the next 60 days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one city properly, add the market layer with a second city, then build the engines on top of real data.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2615184" cy="2487168"/>
          </a:xfrm>
          <a:prstGeom prst="roundRect">
            <a:avLst>
              <a:gd name="adj" fmla="val 2941"/>
            </a:avLst>
          </a:prstGeom>
          <a:solidFill>
            <a:srgbClr val="F5F7FA"/>
          </a:solidFill>
          <a:ln w="9525">
            <a:solidFill>
              <a:srgbClr val="DDE3ED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3167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084832" y="1335024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FDF3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8A5A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21792" y="1618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  ·  Karnal complete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1956816"/>
            <a:ext cx="22860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tags: native / non-native, local / regional / national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Caspar Solution on every parcel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lead-to-mandate lifecycle + deal fields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/ date / verified on every contact and fact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Verified-contact sprint on the top 20 developers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dashboard + Action Required view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64408" y="1207008"/>
            <a:ext cx="2615184" cy="2487168"/>
          </a:xfrm>
          <a:prstGeom prst="roundRect">
            <a:avLst>
              <a:gd name="adj" fmla="val 2941"/>
            </a:avLst>
          </a:prstGeom>
          <a:solidFill>
            <a:srgbClr val="F5F7FA"/>
          </a:solidFill>
          <a:ln w="9525">
            <a:solidFill>
              <a:srgbClr val="DDE3ED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13167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335024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E9F0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24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29000" y="1618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  ·  Market layer + second city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1956816"/>
            <a:ext cx="22860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intelligence bank (Karnal first)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/ luxury research + city-specific thresholds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project DB; BR benchmark library seeded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snapshot + readiness %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Approval-gated outreach workflow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the whole structure to city 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71616" y="1207008"/>
            <a:ext cx="2615184" cy="2487168"/>
          </a:xfrm>
          <a:prstGeom prst="roundRect">
            <a:avLst>
              <a:gd name="adj" fmla="val 2941"/>
            </a:avLst>
          </a:prstGeom>
          <a:solidFill>
            <a:srgbClr val="F5F7FA"/>
          </a:solidFill>
          <a:ln w="9525">
            <a:solidFill>
              <a:srgbClr val="DDE3ED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36208" y="13167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99248" y="1335024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EDF0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236208" y="1618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 ·  Engines and scale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36208" y="1956816"/>
            <a:ext cx="22860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Demand, product-mix &amp; pricing engine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feasibility: cash flows, NPV / IRR, residual land value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City-by-city roll-out across the target footprint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city adds to a proprietary Caspar intelligence base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858768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EF1F7"/>
          </a:solidFill>
          <a:ln w="9525">
            <a:solidFill>
              <a:srgbClr val="DDE3ED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" y="39319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needed from Varun &amp; Taran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" y="418795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Karnal as the prototype city; choose city 2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approves outreach drafts, and the turnaround we commit to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63440" y="418795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developers for the verified-contact sprint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for contact-verification and data tools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Caspar Intelligence &amp; Lead System — Master Plan</dc:title>
  <dc:subject>PptxGenJS Presentation</dc:subject>
  <dc:creator>Deepak Jain</dc:creator>
  <cp:lastModifiedBy>Deepak Jain</cp:lastModifiedBy>
  <cp:revision>1</cp:revision>
  <dcterms:created xsi:type="dcterms:W3CDTF">2026-08-23T03:00:51Z</dcterms:created>
  <dcterms:modified xsi:type="dcterms:W3CDTF">2026-08-23T03:00:51Z</dcterms:modified>
</cp:coreProperties>
</file>